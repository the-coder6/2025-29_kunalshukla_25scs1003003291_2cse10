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1675"/>
  <p:notesSz cx="6858000" cy="9144000"/>
  <p:embeddedFontLst>
    <p:embeddedFont>
      <p:font typeface="Play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ay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Play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7F8F2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0F2D37"/>
                </a:solidFill>
                <a:latin typeface="Calibri"/>
                <a:ea typeface="Calibri"/>
                <a:cs typeface="Calibri"/>
                <a:sym typeface="Calibri"/>
              </a:rPr>
              <a:t>IILM UNIVERSITY, GREATER NOIDA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731520" y="1417320"/>
            <a:ext cx="106984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2D37"/>
                </a:solidFill>
                <a:latin typeface="Calibri"/>
                <a:ea typeface="Calibri"/>
                <a:cs typeface="Calibri"/>
                <a:sym typeface="Calibri"/>
              </a:rPr>
              <a:t>DIABETES DIET ADVISOR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Internship Presentation</a:t>
            </a:r>
            <a:endParaRPr/>
          </a:p>
        </p:txBody>
      </p:sp>
      <p:sp>
        <p:nvSpPr>
          <p:cNvPr id="87" name="Google Shape;87;p13"/>
          <p:cNvSpPr/>
          <p:nvPr/>
        </p:nvSpPr>
        <p:spPr>
          <a:xfrm>
            <a:off x="731520" y="2926080"/>
            <a:ext cx="5212080" cy="2468880"/>
          </a:xfrm>
          <a:prstGeom prst="roundRect">
            <a:avLst>
              <a:gd fmla="val 16667" name="adj"/>
            </a:avLst>
          </a:prstGeom>
          <a:solidFill>
            <a:srgbClr val="F7FAF9"/>
          </a:solidFill>
          <a:ln cap="flat" cmpd="sng" w="9525">
            <a:solidFill>
              <a:srgbClr val="D7E6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896112" y="3063240"/>
            <a:ext cx="488289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Student Details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896112" y="3456432"/>
            <a:ext cx="4882896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0F2D37"/>
                </a:solidFill>
                <a:latin typeface="Calibri"/>
                <a:ea typeface="Calibri"/>
                <a:cs typeface="Calibri"/>
                <a:sym typeface="Calibri"/>
              </a:rPr>
              <a:t>KUNAL SHUKLA</a:t>
            </a:r>
            <a:br>
              <a:rPr b="0" i="0" lang="en-US" sz="1250" u="none" cap="none" strike="noStrike">
                <a:solidFill>
                  <a:srgbClr val="0F2D37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50" u="none" cap="none" strike="noStrike">
                <a:solidFill>
                  <a:srgbClr val="0F2D37"/>
                </a:solidFill>
                <a:latin typeface="Calibri"/>
                <a:ea typeface="Calibri"/>
                <a:cs typeface="Calibri"/>
                <a:sym typeface="Calibri"/>
              </a:rPr>
              <a:t>Enrollment: 25SCS1003003291</a:t>
            </a:r>
            <a:br>
              <a:rPr b="0" i="0" lang="en-US" sz="1250" u="none" cap="none" strike="noStrike">
                <a:solidFill>
                  <a:srgbClr val="0F2D37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50" u="none" cap="none" strike="noStrike">
                <a:solidFill>
                  <a:srgbClr val="0F2D37"/>
                </a:solidFill>
                <a:latin typeface="Calibri"/>
                <a:ea typeface="Calibri"/>
                <a:cs typeface="Calibri"/>
                <a:sym typeface="Calibri"/>
              </a:rPr>
              <a:t>B.Tech CSE (AI &amp; ML) | 3rd Semester</a:t>
            </a:r>
            <a:br>
              <a:rPr b="0" i="0" lang="en-US" sz="1250" u="none" cap="none" strike="noStrike">
                <a:solidFill>
                  <a:srgbClr val="0F2D37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50" u="none" cap="none" strike="noStrike">
                <a:solidFill>
                  <a:srgbClr val="0F2D37"/>
                </a:solidFill>
                <a:latin typeface="Calibri"/>
                <a:ea typeface="Calibri"/>
                <a:cs typeface="Calibri"/>
                <a:sym typeface="Calibri"/>
              </a:rPr>
              <a:t>Section: 2CSE10 | Batch: 2025–2029</a:t>
            </a:r>
            <a:endParaRPr/>
          </a:p>
        </p:txBody>
      </p:sp>
      <p:sp>
        <p:nvSpPr>
          <p:cNvPr id="90" name="Google Shape;90;p13"/>
          <p:cNvSpPr/>
          <p:nvPr/>
        </p:nvSpPr>
        <p:spPr>
          <a:xfrm>
            <a:off x="6217920" y="2926080"/>
            <a:ext cx="5212080" cy="2468880"/>
          </a:xfrm>
          <a:prstGeom prst="roundRect">
            <a:avLst>
              <a:gd fmla="val 16667" name="adj"/>
            </a:avLst>
          </a:prstGeom>
          <a:solidFill>
            <a:srgbClr val="F7FAF9"/>
          </a:solidFill>
          <a:ln cap="flat" cmpd="sng" w="9525">
            <a:solidFill>
              <a:srgbClr val="D7E6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6382512" y="3063240"/>
            <a:ext cx="488289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Internship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82512" y="3456432"/>
            <a:ext cx="4882896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0F2D37"/>
                </a:solidFill>
                <a:latin typeface="Calibri"/>
                <a:ea typeface="Calibri"/>
                <a:cs typeface="Calibri"/>
                <a:sym typeface="Calibri"/>
              </a:rPr>
              <a:t>AI-Driven Web Application &amp; Product Development</a:t>
            </a:r>
            <a:br>
              <a:rPr b="0" i="0" lang="en-US" sz="1250" u="none" cap="none" strike="noStrike">
                <a:solidFill>
                  <a:srgbClr val="0F2D37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50" u="none" cap="none" strike="noStrike">
                <a:solidFill>
                  <a:srgbClr val="0F2D37"/>
                </a:solidFill>
                <a:latin typeface="Calibri"/>
                <a:ea typeface="Calibri"/>
                <a:cs typeface="Calibri"/>
                <a:sym typeface="Calibri"/>
              </a:rPr>
              <a:t>Lenovo LEAP NextGen Scholar Program</a:t>
            </a:r>
            <a:br>
              <a:rPr b="0" i="0" lang="en-US" sz="1250" u="none" cap="none" strike="noStrike">
                <a:solidFill>
                  <a:srgbClr val="0F2D37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50" u="none" cap="none" strike="noStrike">
                <a:solidFill>
                  <a:srgbClr val="0F2D37"/>
                </a:solidFill>
                <a:latin typeface="Calibri"/>
                <a:ea typeface="Calibri"/>
                <a:cs typeface="Calibri"/>
                <a:sym typeface="Calibri"/>
              </a:rPr>
              <a:t>Implemented by BharatCares in association with AICTE</a:t>
            </a:r>
            <a:br>
              <a:rPr b="0" i="0" lang="en-US" sz="1250" u="none" cap="none" strike="noStrike">
                <a:solidFill>
                  <a:srgbClr val="0F2D37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50" u="none" cap="none" strike="noStrike">
                <a:solidFill>
                  <a:srgbClr val="0F2D37"/>
                </a:solidFill>
                <a:latin typeface="Calibri"/>
                <a:ea typeface="Calibri"/>
                <a:cs typeface="Calibri"/>
                <a:sym typeface="Calibri"/>
              </a:rPr>
              <a:t>15 June – 30 July 2026</a:t>
            </a:r>
            <a:endParaRPr/>
          </a:p>
        </p:txBody>
      </p:sp>
      <p:sp>
        <p:nvSpPr>
          <p:cNvPr id="93" name="Google Shape;93;p13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0F2D3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3"/>
          <p:cNvSpPr txBox="1"/>
          <p:nvPr/>
        </p:nvSpPr>
        <p:spPr>
          <a:xfrm>
            <a:off x="11475720" y="664768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2D37"/>
                </a:solidFill>
                <a:latin typeface="Play"/>
                <a:ea typeface="Play"/>
                <a:cs typeface="Play"/>
                <a:sym typeface="Play"/>
              </a:rPr>
              <a:t>Internship Overview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621792" y="914400"/>
            <a:ext cx="10789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56469"/>
                </a:solidFill>
                <a:latin typeface="Calibri"/>
                <a:ea typeface="Calibri"/>
                <a:cs typeface="Calibri"/>
                <a:sym typeface="Calibri"/>
              </a:rPr>
              <a:t>Six-week AICTE internship under Lenovo LEAP NextGen Scholar Program</a:t>
            </a:r>
            <a:endParaRPr/>
          </a:p>
        </p:txBody>
      </p:sp>
      <p:sp>
        <p:nvSpPr>
          <p:cNvPr id="101" name="Google Shape;101;p14"/>
          <p:cNvSpPr/>
          <p:nvPr/>
        </p:nvSpPr>
        <p:spPr>
          <a:xfrm>
            <a:off x="731520" y="1463040"/>
            <a:ext cx="3474720" cy="1554480"/>
          </a:xfrm>
          <a:prstGeom prst="roundRect">
            <a:avLst>
              <a:gd fmla="val 16667" name="adj"/>
            </a:avLst>
          </a:prstGeom>
          <a:solidFill>
            <a:srgbClr val="F7FAF9"/>
          </a:solidFill>
          <a:ln cap="flat" cmpd="sng" w="9525">
            <a:solidFill>
              <a:srgbClr val="D7E6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896112" y="1600200"/>
            <a:ext cx="314553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Format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896112" y="1993392"/>
            <a:ext cx="3145536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0F2D37"/>
                </a:solidFill>
                <a:latin typeface="Calibri"/>
                <a:ea typeface="Calibri"/>
                <a:cs typeface="Calibri"/>
                <a:sym typeface="Calibri"/>
              </a:rPr>
              <a:t>Virtual, project-oriented learning journey</a:t>
            </a:r>
            <a:endParaRPr/>
          </a:p>
        </p:txBody>
      </p:sp>
      <p:sp>
        <p:nvSpPr>
          <p:cNvPr id="104" name="Google Shape;104;p14"/>
          <p:cNvSpPr/>
          <p:nvPr/>
        </p:nvSpPr>
        <p:spPr>
          <a:xfrm>
            <a:off x="4389120" y="1463040"/>
            <a:ext cx="3474720" cy="1554480"/>
          </a:xfrm>
          <a:prstGeom prst="roundRect">
            <a:avLst>
              <a:gd fmla="val 16667" name="adj"/>
            </a:avLst>
          </a:prstGeom>
          <a:solidFill>
            <a:srgbClr val="F7FAF9"/>
          </a:solidFill>
          <a:ln cap="flat" cmpd="sng" w="9525">
            <a:solidFill>
              <a:srgbClr val="D7E6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4553712" y="1600200"/>
            <a:ext cx="314553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Learning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4553712" y="1993392"/>
            <a:ext cx="3145536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0F2D37"/>
                </a:solidFill>
                <a:latin typeface="Calibri"/>
                <a:ea typeface="Calibri"/>
                <a:cs typeface="Calibri"/>
                <a:sym typeface="Calibri"/>
              </a:rPr>
              <a:t>Orientation, 7 masterclasses, mentoring and assessment</a:t>
            </a:r>
            <a:endParaRPr/>
          </a:p>
        </p:txBody>
      </p:sp>
      <p:sp>
        <p:nvSpPr>
          <p:cNvPr id="107" name="Google Shape;107;p14"/>
          <p:cNvSpPr/>
          <p:nvPr/>
        </p:nvSpPr>
        <p:spPr>
          <a:xfrm>
            <a:off x="8046720" y="1463040"/>
            <a:ext cx="3383280" cy="1554480"/>
          </a:xfrm>
          <a:prstGeom prst="roundRect">
            <a:avLst>
              <a:gd fmla="val 16667" name="adj"/>
            </a:avLst>
          </a:prstGeom>
          <a:solidFill>
            <a:srgbClr val="F7FAF9"/>
          </a:solidFill>
          <a:ln cap="flat" cmpd="sng" w="9525">
            <a:solidFill>
              <a:srgbClr val="D7E6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8211312" y="1600200"/>
            <a:ext cx="305409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Career Exposure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8211312" y="1993392"/>
            <a:ext cx="3054096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0F2D37"/>
                </a:solidFill>
                <a:latin typeface="Calibri"/>
                <a:ea typeface="Calibri"/>
                <a:cs typeface="Calibri"/>
                <a:sym typeface="Calibri"/>
              </a:rPr>
              <a:t>Career-readiness sessions and hackathon orientation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822960" y="3474720"/>
            <a:ext cx="1051560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F2D37"/>
                </a:solidFill>
                <a:latin typeface="Arial"/>
                <a:ea typeface="Arial"/>
                <a:cs typeface="Arial"/>
                <a:sym typeface="Arial"/>
              </a:rPr>
              <a:t>Focus: AI-driven web application &amp; product development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F2D37"/>
                </a:solidFill>
                <a:latin typeface="Arial"/>
                <a:ea typeface="Arial"/>
                <a:cs typeface="Arial"/>
                <a:sym typeface="Arial"/>
              </a:rPr>
              <a:t>Practical web/product development approach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F2D37"/>
                </a:solidFill>
                <a:latin typeface="Arial"/>
                <a:ea typeface="Arial"/>
                <a:cs typeface="Arial"/>
                <a:sym typeface="Arial"/>
              </a:rPr>
              <a:t>SDG-oriented project thinking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F2D37"/>
                </a:solidFill>
                <a:latin typeface="Arial"/>
                <a:ea typeface="Arial"/>
                <a:cs typeface="Arial"/>
                <a:sym typeface="Arial"/>
              </a:rPr>
              <a:t>Skill India assessment completed</a:t>
            </a:r>
            <a:endParaRPr/>
          </a:p>
        </p:txBody>
      </p:sp>
      <p:sp>
        <p:nvSpPr>
          <p:cNvPr id="111" name="Google Shape;111;p14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0F2D3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11475720" y="664768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7F8F2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5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2D37"/>
                </a:solidFill>
                <a:latin typeface="Play"/>
                <a:ea typeface="Play"/>
                <a:cs typeface="Play"/>
                <a:sym typeface="Play"/>
              </a:rPr>
              <a:t>Project: Diabetes Diet Advisor (DiaDiet)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621792" y="914400"/>
            <a:ext cx="10789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56469"/>
                </a:solidFill>
                <a:latin typeface="Calibri"/>
                <a:ea typeface="Calibri"/>
                <a:cs typeface="Calibri"/>
                <a:sym typeface="Calibri"/>
              </a:rPr>
              <a:t>A health and wellness web application aligned with UN SDG 3</a:t>
            </a:r>
            <a:endParaRPr/>
          </a:p>
        </p:txBody>
      </p:sp>
      <p:pic>
        <p:nvPicPr>
          <p:cNvPr descr="Screenshot (50)(1).png" id="119" name="Google Shape;11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5040" y="1417320"/>
            <a:ext cx="5577840" cy="315468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731520" y="1508760"/>
            <a:ext cx="484632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F2D37"/>
                </a:solidFill>
                <a:latin typeface="Arial"/>
                <a:ea typeface="Arial"/>
                <a:cs typeface="Arial"/>
                <a:sym typeface="Arial"/>
              </a:rPr>
              <a:t>Simple food-choice guidance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F2D37"/>
                </a:solidFill>
                <a:latin typeface="Arial"/>
                <a:ea typeface="Arial"/>
                <a:cs typeface="Arial"/>
                <a:sym typeface="Arial"/>
              </a:rPr>
              <a:t>Blood sugar + food input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F2D37"/>
                </a:solidFill>
                <a:latin typeface="Arial"/>
                <a:ea typeface="Arial"/>
                <a:cs typeface="Arial"/>
                <a:sym typeface="Arial"/>
              </a:rPr>
              <a:t>Healthy diet tips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F2D37"/>
                </a:solidFill>
                <a:latin typeface="Arial"/>
                <a:ea typeface="Arial"/>
                <a:cs typeface="Arial"/>
                <a:sym typeface="Arial"/>
              </a:rPr>
              <a:t>BMI calculator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F2D37"/>
                </a:solidFill>
                <a:latin typeface="Arial"/>
                <a:ea typeface="Arial"/>
                <a:cs typeface="Arial"/>
                <a:sym typeface="Arial"/>
              </a:rPr>
              <a:t>Water-intake tracker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F2D37"/>
                </a:solidFill>
                <a:latin typeface="Arial"/>
                <a:ea typeface="Arial"/>
                <a:cs typeface="Arial"/>
                <a:sym typeface="Arial"/>
              </a:rPr>
              <a:t>Publicly deployed using GitHub Pages</a:t>
            </a:r>
            <a:endParaRPr/>
          </a:p>
        </p:txBody>
      </p:sp>
      <p:sp>
        <p:nvSpPr>
          <p:cNvPr id="121" name="Google Shape;121;p15"/>
          <p:cNvSpPr/>
          <p:nvPr/>
        </p:nvSpPr>
        <p:spPr>
          <a:xfrm>
            <a:off x="6035040" y="4800600"/>
            <a:ext cx="5577840" cy="1097280"/>
          </a:xfrm>
          <a:prstGeom prst="roundRect">
            <a:avLst>
              <a:gd fmla="val 16667" name="adj"/>
            </a:avLst>
          </a:prstGeom>
          <a:solidFill>
            <a:srgbClr val="F7FAF9"/>
          </a:solidFill>
          <a:ln cap="flat" cmpd="sng" w="9525">
            <a:solidFill>
              <a:srgbClr val="D7E6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5"/>
          <p:cNvSpPr txBox="1"/>
          <p:nvPr/>
        </p:nvSpPr>
        <p:spPr>
          <a:xfrm>
            <a:off x="6199631" y="4937760"/>
            <a:ext cx="5248655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Live Project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6199631" y="5330952"/>
            <a:ext cx="524865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0F2D37"/>
                </a:solidFill>
                <a:latin typeface="Calibri"/>
                <a:ea typeface="Calibri"/>
                <a:cs typeface="Calibri"/>
                <a:sym typeface="Calibri"/>
              </a:rPr>
              <a:t>the-coder6.github.io/diabetes-diet-advisor</a:t>
            </a:r>
            <a:endParaRPr/>
          </a:p>
        </p:txBody>
      </p:sp>
      <p:sp>
        <p:nvSpPr>
          <p:cNvPr id="124" name="Google Shape;124;p15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0F2D3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11475720" y="664768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2D37"/>
                </a:solidFill>
                <a:latin typeface="Play"/>
                <a:ea typeface="Play"/>
                <a:cs typeface="Play"/>
                <a:sym typeface="Play"/>
              </a:rPr>
              <a:t>Problem Statement &amp; Objectives</a:t>
            </a:r>
            <a:endParaRPr/>
          </a:p>
        </p:txBody>
      </p:sp>
      <p:sp>
        <p:nvSpPr>
          <p:cNvPr id="131" name="Google Shape;131;p16"/>
          <p:cNvSpPr/>
          <p:nvPr/>
        </p:nvSpPr>
        <p:spPr>
          <a:xfrm>
            <a:off x="731520" y="1371600"/>
            <a:ext cx="5303520" cy="4389120"/>
          </a:xfrm>
          <a:prstGeom prst="roundRect">
            <a:avLst>
              <a:gd fmla="val 16667" name="adj"/>
            </a:avLst>
          </a:prstGeom>
          <a:solidFill>
            <a:srgbClr val="F7FAF9"/>
          </a:solidFill>
          <a:ln cap="flat" cmpd="sng" w="9525">
            <a:solidFill>
              <a:srgbClr val="D7E6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6"/>
          <p:cNvSpPr txBox="1"/>
          <p:nvPr/>
        </p:nvSpPr>
        <p:spPr>
          <a:xfrm>
            <a:off x="896112" y="1508760"/>
            <a:ext cx="497433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Problem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896112" y="1901952"/>
            <a:ext cx="4974336" cy="37490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0F2D37"/>
                </a:solidFill>
                <a:latin typeface="Calibri"/>
                <a:ea typeface="Calibri"/>
                <a:cs typeface="Calibri"/>
                <a:sym typeface="Calibri"/>
              </a:rPr>
              <a:t>Diabetes-aware dietary information can be scattered or difficult to translate into everyday food choices. The project explores a simple browser-based interface that combines quick food guidance with basic wellness utilities.</a:t>
            </a:r>
            <a:br>
              <a:rPr b="0" i="0" lang="en-US" sz="1250" u="none" cap="none" strike="noStrike">
                <a:solidFill>
                  <a:srgbClr val="0F2D37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250" u="none" cap="none" strike="noStrike">
                <a:solidFill>
                  <a:srgbClr val="0F2D37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50" u="none" cap="none" strike="noStrike">
                <a:solidFill>
                  <a:srgbClr val="0F2D37"/>
                </a:solidFill>
                <a:latin typeface="Calibri"/>
                <a:ea typeface="Calibri"/>
                <a:cs typeface="Calibri"/>
                <a:sym typeface="Calibri"/>
              </a:rPr>
              <a:t>The application is educational and is not a diagnostic or clinical decision-support system.</a:t>
            </a:r>
            <a:endParaRPr/>
          </a:p>
        </p:txBody>
      </p:sp>
      <p:sp>
        <p:nvSpPr>
          <p:cNvPr id="134" name="Google Shape;134;p16"/>
          <p:cNvSpPr/>
          <p:nvPr/>
        </p:nvSpPr>
        <p:spPr>
          <a:xfrm>
            <a:off x="6263640" y="1371600"/>
            <a:ext cx="5166360" cy="4389120"/>
          </a:xfrm>
          <a:prstGeom prst="roundRect">
            <a:avLst>
              <a:gd fmla="val 16667" name="adj"/>
            </a:avLst>
          </a:prstGeom>
          <a:solidFill>
            <a:srgbClr val="F7FAF9"/>
          </a:solidFill>
          <a:ln cap="flat" cmpd="sng" w="9525">
            <a:solidFill>
              <a:srgbClr val="D7E6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6"/>
          <p:cNvSpPr txBox="1"/>
          <p:nvPr/>
        </p:nvSpPr>
        <p:spPr>
          <a:xfrm>
            <a:off x="6428231" y="1508760"/>
            <a:ext cx="483717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Objectives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6428231" y="1901952"/>
            <a:ext cx="4837176" cy="37490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0F2D37"/>
                </a:solidFill>
                <a:latin typeface="Calibri"/>
                <a:ea typeface="Calibri"/>
                <a:cs typeface="Calibri"/>
                <a:sym typeface="Calibri"/>
              </a:rPr>
              <a:t>• Build a clean responsive web application</a:t>
            </a:r>
            <a:br>
              <a:rPr b="0" i="0" lang="en-US" sz="1250" u="none" cap="none" strike="noStrike">
                <a:solidFill>
                  <a:srgbClr val="0F2D37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50" u="none" cap="none" strike="noStrike">
                <a:solidFill>
                  <a:srgbClr val="0F2D37"/>
                </a:solidFill>
                <a:latin typeface="Calibri"/>
                <a:ea typeface="Calibri"/>
                <a:cs typeface="Calibri"/>
                <a:sym typeface="Calibri"/>
              </a:rPr>
              <a:t>• Provide quick food recommendation messages</a:t>
            </a:r>
            <a:br>
              <a:rPr b="0" i="0" lang="en-US" sz="1250" u="none" cap="none" strike="noStrike">
                <a:solidFill>
                  <a:srgbClr val="0F2D37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50" u="none" cap="none" strike="noStrike">
                <a:solidFill>
                  <a:srgbClr val="0F2D37"/>
                </a:solidFill>
                <a:latin typeface="Calibri"/>
                <a:ea typeface="Calibri"/>
                <a:cs typeface="Calibri"/>
                <a:sym typeface="Calibri"/>
              </a:rPr>
              <a:t>• Add BMI and hydration utilities</a:t>
            </a:r>
            <a:br>
              <a:rPr b="0" i="0" lang="en-US" sz="1250" u="none" cap="none" strike="noStrike">
                <a:solidFill>
                  <a:srgbClr val="0F2D37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50" u="none" cap="none" strike="noStrike">
                <a:solidFill>
                  <a:srgbClr val="0F2D37"/>
                </a:solidFill>
                <a:latin typeface="Calibri"/>
                <a:ea typeface="Calibri"/>
                <a:cs typeface="Calibri"/>
                <a:sym typeface="Calibri"/>
              </a:rPr>
              <a:t>• Apply HTML, CSS and JavaScript</a:t>
            </a:r>
            <a:br>
              <a:rPr b="0" i="0" lang="en-US" sz="1250" u="none" cap="none" strike="noStrike">
                <a:solidFill>
                  <a:srgbClr val="0F2D37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50" u="none" cap="none" strike="noStrike">
                <a:solidFill>
                  <a:srgbClr val="0F2D37"/>
                </a:solidFill>
                <a:latin typeface="Calibri"/>
                <a:ea typeface="Calibri"/>
                <a:cs typeface="Calibri"/>
                <a:sym typeface="Calibri"/>
              </a:rPr>
              <a:t>• Deploy the project publicly</a:t>
            </a:r>
            <a:br>
              <a:rPr b="0" i="0" lang="en-US" sz="1250" u="none" cap="none" strike="noStrike">
                <a:solidFill>
                  <a:srgbClr val="0F2D37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50" u="none" cap="none" strike="noStrike">
                <a:solidFill>
                  <a:srgbClr val="0F2D37"/>
                </a:solidFill>
                <a:latin typeface="Calibri"/>
                <a:ea typeface="Calibri"/>
                <a:cs typeface="Calibri"/>
                <a:sym typeface="Calibri"/>
              </a:rPr>
              <a:t>• Align the theme with UN SDG 3</a:t>
            </a:r>
            <a:br>
              <a:rPr b="0" i="0" lang="en-US" sz="1250" u="none" cap="none" strike="noStrike">
                <a:solidFill>
                  <a:srgbClr val="0F2D37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50" u="none" cap="none" strike="noStrike">
                <a:solidFill>
                  <a:srgbClr val="0F2D37"/>
                </a:solidFill>
                <a:latin typeface="Calibri"/>
                <a:ea typeface="Calibri"/>
                <a:cs typeface="Calibri"/>
                <a:sym typeface="Calibri"/>
              </a:rPr>
              <a:t>• Document the project honestly and responsibly</a:t>
            </a:r>
            <a:endParaRPr/>
          </a:p>
        </p:txBody>
      </p:sp>
      <p:sp>
        <p:nvSpPr>
          <p:cNvPr id="137" name="Google Shape;137;p16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0F2D3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6"/>
          <p:cNvSpPr txBox="1"/>
          <p:nvPr/>
        </p:nvSpPr>
        <p:spPr>
          <a:xfrm>
            <a:off x="11475720" y="664768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7F8F2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7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2D37"/>
                </a:solidFill>
                <a:latin typeface="Play"/>
                <a:ea typeface="Play"/>
                <a:cs typeface="Play"/>
                <a:sym typeface="Play"/>
              </a:rPr>
              <a:t>Technologies &amp; Tools Used</a:t>
            </a:r>
            <a:endParaRPr/>
          </a:p>
        </p:txBody>
      </p:sp>
      <p:sp>
        <p:nvSpPr>
          <p:cNvPr id="144" name="Google Shape;144;p17"/>
          <p:cNvSpPr/>
          <p:nvPr/>
        </p:nvSpPr>
        <p:spPr>
          <a:xfrm>
            <a:off x="731520" y="1463040"/>
            <a:ext cx="2971800" cy="1600200"/>
          </a:xfrm>
          <a:prstGeom prst="roundRect">
            <a:avLst>
              <a:gd fmla="val 16667" name="adj"/>
            </a:avLst>
          </a:prstGeom>
          <a:solidFill>
            <a:srgbClr val="F7FAF9"/>
          </a:solidFill>
          <a:ln cap="flat" cmpd="sng" w="9525">
            <a:solidFill>
              <a:srgbClr val="D7E6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7"/>
          <p:cNvSpPr txBox="1"/>
          <p:nvPr/>
        </p:nvSpPr>
        <p:spPr>
          <a:xfrm>
            <a:off x="896112" y="1600200"/>
            <a:ext cx="264261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HTML5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896112" y="1993392"/>
            <a:ext cx="2642616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0F2D37"/>
                </a:solidFill>
                <a:latin typeface="Calibri"/>
                <a:ea typeface="Calibri"/>
                <a:cs typeface="Calibri"/>
                <a:sym typeface="Calibri"/>
              </a:rPr>
              <a:t>Page structure, forms, navigation and content</a:t>
            </a:r>
            <a:endParaRPr/>
          </a:p>
        </p:txBody>
      </p:sp>
      <p:sp>
        <p:nvSpPr>
          <p:cNvPr id="147" name="Google Shape;147;p17"/>
          <p:cNvSpPr/>
          <p:nvPr/>
        </p:nvSpPr>
        <p:spPr>
          <a:xfrm>
            <a:off x="4160520" y="1463040"/>
            <a:ext cx="2971800" cy="1600200"/>
          </a:xfrm>
          <a:prstGeom prst="roundRect">
            <a:avLst>
              <a:gd fmla="val 16667" name="adj"/>
            </a:avLst>
          </a:prstGeom>
          <a:solidFill>
            <a:srgbClr val="F7FAF9"/>
          </a:solidFill>
          <a:ln cap="flat" cmpd="sng" w="9525">
            <a:solidFill>
              <a:srgbClr val="D7E6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7"/>
          <p:cNvSpPr txBox="1"/>
          <p:nvPr/>
        </p:nvSpPr>
        <p:spPr>
          <a:xfrm>
            <a:off x="4325112" y="1600200"/>
            <a:ext cx="264261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CSS3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4325112" y="1993392"/>
            <a:ext cx="2642616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0F2D37"/>
                </a:solidFill>
                <a:latin typeface="Calibri"/>
                <a:ea typeface="Calibri"/>
                <a:cs typeface="Calibri"/>
                <a:sym typeface="Calibri"/>
              </a:rPr>
              <a:t>Responsive styling, cards, layout and visual states</a:t>
            </a:r>
            <a:endParaRPr/>
          </a:p>
        </p:txBody>
      </p:sp>
      <p:sp>
        <p:nvSpPr>
          <p:cNvPr id="150" name="Google Shape;150;p17"/>
          <p:cNvSpPr/>
          <p:nvPr/>
        </p:nvSpPr>
        <p:spPr>
          <a:xfrm>
            <a:off x="7589520" y="1463040"/>
            <a:ext cx="2971800" cy="1600200"/>
          </a:xfrm>
          <a:prstGeom prst="roundRect">
            <a:avLst>
              <a:gd fmla="val 16667" name="adj"/>
            </a:avLst>
          </a:prstGeom>
          <a:solidFill>
            <a:srgbClr val="F7FAF9"/>
          </a:solidFill>
          <a:ln cap="flat" cmpd="sng" w="9525">
            <a:solidFill>
              <a:srgbClr val="D7E6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7"/>
          <p:cNvSpPr txBox="1"/>
          <p:nvPr/>
        </p:nvSpPr>
        <p:spPr>
          <a:xfrm>
            <a:off x="7754112" y="1600200"/>
            <a:ext cx="264261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JavaScript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7754112" y="1993392"/>
            <a:ext cx="2642616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0F2D37"/>
                </a:solidFill>
                <a:latin typeface="Calibri"/>
                <a:ea typeface="Calibri"/>
                <a:cs typeface="Calibri"/>
                <a:sym typeface="Calibri"/>
              </a:rPr>
              <a:t>Interactive recommendations, BMI and water tracking</a:t>
            </a:r>
            <a:endParaRPr/>
          </a:p>
        </p:txBody>
      </p:sp>
      <p:sp>
        <p:nvSpPr>
          <p:cNvPr id="153" name="Google Shape;153;p17"/>
          <p:cNvSpPr/>
          <p:nvPr/>
        </p:nvSpPr>
        <p:spPr>
          <a:xfrm>
            <a:off x="731520" y="3657600"/>
            <a:ext cx="2971800" cy="1600200"/>
          </a:xfrm>
          <a:prstGeom prst="roundRect">
            <a:avLst>
              <a:gd fmla="val 16667" name="adj"/>
            </a:avLst>
          </a:prstGeom>
          <a:solidFill>
            <a:srgbClr val="F7FAF9"/>
          </a:solidFill>
          <a:ln cap="flat" cmpd="sng" w="9525">
            <a:solidFill>
              <a:srgbClr val="D7E6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7"/>
          <p:cNvSpPr txBox="1"/>
          <p:nvPr/>
        </p:nvSpPr>
        <p:spPr>
          <a:xfrm>
            <a:off x="896112" y="3794760"/>
            <a:ext cx="264261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GitHub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896112" y="4187952"/>
            <a:ext cx="2642616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0F2D37"/>
                </a:solidFill>
                <a:latin typeface="Calibri"/>
                <a:ea typeface="Calibri"/>
                <a:cs typeface="Calibri"/>
                <a:sym typeface="Calibri"/>
              </a:rPr>
              <a:t>Public source-code repository and version history</a:t>
            </a:r>
            <a:endParaRPr/>
          </a:p>
        </p:txBody>
      </p:sp>
      <p:sp>
        <p:nvSpPr>
          <p:cNvPr id="156" name="Google Shape;156;p17"/>
          <p:cNvSpPr/>
          <p:nvPr/>
        </p:nvSpPr>
        <p:spPr>
          <a:xfrm>
            <a:off x="4160520" y="3657600"/>
            <a:ext cx="2971800" cy="1600200"/>
          </a:xfrm>
          <a:prstGeom prst="roundRect">
            <a:avLst>
              <a:gd fmla="val 16667" name="adj"/>
            </a:avLst>
          </a:prstGeom>
          <a:solidFill>
            <a:srgbClr val="F7FAF9"/>
          </a:solidFill>
          <a:ln cap="flat" cmpd="sng" w="9525">
            <a:solidFill>
              <a:srgbClr val="D7E6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7"/>
          <p:cNvSpPr txBox="1"/>
          <p:nvPr/>
        </p:nvSpPr>
        <p:spPr>
          <a:xfrm>
            <a:off x="4325112" y="3794760"/>
            <a:ext cx="264261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GitHub Pages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4325112" y="4187952"/>
            <a:ext cx="2642616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0F2D37"/>
                </a:solidFill>
                <a:latin typeface="Calibri"/>
                <a:ea typeface="Calibri"/>
                <a:cs typeface="Calibri"/>
                <a:sym typeface="Calibri"/>
              </a:rPr>
              <a:t>Static website deployment</a:t>
            </a:r>
            <a:endParaRPr/>
          </a:p>
        </p:txBody>
      </p:sp>
      <p:sp>
        <p:nvSpPr>
          <p:cNvPr id="159" name="Google Shape;159;p17"/>
          <p:cNvSpPr/>
          <p:nvPr/>
        </p:nvSpPr>
        <p:spPr>
          <a:xfrm>
            <a:off x="7589520" y="3657600"/>
            <a:ext cx="2971800" cy="1600200"/>
          </a:xfrm>
          <a:prstGeom prst="roundRect">
            <a:avLst>
              <a:gd fmla="val 16667" name="adj"/>
            </a:avLst>
          </a:prstGeom>
          <a:solidFill>
            <a:srgbClr val="F7FAF9"/>
          </a:solidFill>
          <a:ln cap="flat" cmpd="sng" w="9525">
            <a:solidFill>
              <a:srgbClr val="D7E6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7"/>
          <p:cNvSpPr txBox="1"/>
          <p:nvPr/>
        </p:nvSpPr>
        <p:spPr>
          <a:xfrm>
            <a:off x="7754112" y="3794760"/>
            <a:ext cx="264261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Prompt Engineering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7754112" y="4187952"/>
            <a:ext cx="2642616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0F2D37"/>
                </a:solidFill>
                <a:latin typeface="Calibri"/>
                <a:ea typeface="Calibri"/>
                <a:cs typeface="Calibri"/>
                <a:sym typeface="Calibri"/>
              </a:rPr>
              <a:t>Internship learning topic; not claimed as a runtime AI service</a:t>
            </a:r>
            <a:endParaRPr/>
          </a:p>
        </p:txBody>
      </p:sp>
      <p:sp>
        <p:nvSpPr>
          <p:cNvPr id="162" name="Google Shape;162;p17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0F2D3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7"/>
          <p:cNvSpPr txBox="1"/>
          <p:nvPr/>
        </p:nvSpPr>
        <p:spPr>
          <a:xfrm>
            <a:off x="11475720" y="664768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8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2D37"/>
                </a:solidFill>
                <a:latin typeface="Play"/>
                <a:ea typeface="Play"/>
                <a:cs typeface="Play"/>
                <a:sym typeface="Play"/>
              </a:rPr>
              <a:t>System Architecture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621792" y="914400"/>
            <a:ext cx="10789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56469"/>
                </a:solidFill>
                <a:latin typeface="Calibri"/>
                <a:ea typeface="Calibri"/>
                <a:cs typeface="Calibri"/>
                <a:sym typeface="Calibri"/>
              </a:rPr>
              <a:t>Client-side static web application</a:t>
            </a:r>
            <a:endParaRPr/>
          </a:p>
        </p:txBody>
      </p:sp>
      <p:sp>
        <p:nvSpPr>
          <p:cNvPr id="170" name="Google Shape;170;p18"/>
          <p:cNvSpPr/>
          <p:nvPr/>
        </p:nvSpPr>
        <p:spPr>
          <a:xfrm>
            <a:off x="731520" y="2194560"/>
            <a:ext cx="1508760" cy="914400"/>
          </a:xfrm>
          <a:prstGeom prst="roundRect">
            <a:avLst>
              <a:gd fmla="val 16667" name="adj"/>
            </a:avLst>
          </a:prstGeom>
          <a:solidFill>
            <a:srgbClr val="E7F8F2"/>
          </a:solidFill>
          <a:ln cap="flat" cmpd="sng" w="9525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F2D37"/>
                </a:solidFill>
                <a:latin typeface="Calibri"/>
                <a:ea typeface="Calibri"/>
                <a:cs typeface="Calibri"/>
                <a:sym typeface="Calibri"/>
              </a:rPr>
              <a:t>USER</a:t>
            </a:r>
            <a:endParaRPr/>
          </a:p>
        </p:txBody>
      </p:sp>
      <p:sp>
        <p:nvSpPr>
          <p:cNvPr id="171" name="Google Shape;171;p18"/>
          <p:cNvSpPr/>
          <p:nvPr/>
        </p:nvSpPr>
        <p:spPr>
          <a:xfrm>
            <a:off x="2926080" y="2194560"/>
            <a:ext cx="1508760" cy="914400"/>
          </a:xfrm>
          <a:prstGeom prst="roundRect">
            <a:avLst>
              <a:gd fmla="val 16667" name="adj"/>
            </a:avLst>
          </a:prstGeom>
          <a:solidFill>
            <a:srgbClr val="E7F8F2"/>
          </a:solidFill>
          <a:ln cap="flat" cmpd="sng" w="9525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F2D37"/>
                </a:solidFill>
                <a:latin typeface="Calibri"/>
                <a:ea typeface="Calibri"/>
                <a:cs typeface="Calibri"/>
                <a:sym typeface="Calibri"/>
              </a:rPr>
              <a:t>WEB BROWSER</a:t>
            </a:r>
            <a:endParaRPr/>
          </a:p>
        </p:txBody>
      </p:sp>
      <p:sp>
        <p:nvSpPr>
          <p:cNvPr id="172" name="Google Shape;172;p18"/>
          <p:cNvSpPr/>
          <p:nvPr/>
        </p:nvSpPr>
        <p:spPr>
          <a:xfrm>
            <a:off x="5212080" y="2194560"/>
            <a:ext cx="1508760" cy="914400"/>
          </a:xfrm>
          <a:prstGeom prst="roundRect">
            <a:avLst>
              <a:gd fmla="val 16667" name="adj"/>
            </a:avLst>
          </a:prstGeom>
          <a:solidFill>
            <a:srgbClr val="E7F8F2"/>
          </a:solidFill>
          <a:ln cap="flat" cmpd="sng" w="9525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F2D37"/>
                </a:solidFill>
                <a:latin typeface="Calibri"/>
                <a:ea typeface="Calibri"/>
                <a:cs typeface="Calibri"/>
                <a:sym typeface="Calibri"/>
              </a:rPr>
              <a:t>HTML UI</a:t>
            </a:r>
            <a:endParaRPr/>
          </a:p>
        </p:txBody>
      </p:sp>
      <p:sp>
        <p:nvSpPr>
          <p:cNvPr id="173" name="Google Shape;173;p18"/>
          <p:cNvSpPr/>
          <p:nvPr/>
        </p:nvSpPr>
        <p:spPr>
          <a:xfrm>
            <a:off x="7315200" y="2194560"/>
            <a:ext cx="1508760" cy="914400"/>
          </a:xfrm>
          <a:prstGeom prst="roundRect">
            <a:avLst>
              <a:gd fmla="val 16667" name="adj"/>
            </a:avLst>
          </a:prstGeom>
          <a:solidFill>
            <a:srgbClr val="E7F8F2"/>
          </a:solidFill>
          <a:ln cap="flat" cmpd="sng" w="9525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F2D37"/>
                </a:solidFill>
                <a:latin typeface="Calibri"/>
                <a:ea typeface="Calibri"/>
                <a:cs typeface="Calibri"/>
                <a:sym typeface="Calibri"/>
              </a:rPr>
              <a:t>JAVASCRIPT LOGIC</a:t>
            </a:r>
            <a:endParaRPr/>
          </a:p>
        </p:txBody>
      </p:sp>
      <p:sp>
        <p:nvSpPr>
          <p:cNvPr id="174" name="Google Shape;174;p18"/>
          <p:cNvSpPr/>
          <p:nvPr/>
        </p:nvSpPr>
        <p:spPr>
          <a:xfrm>
            <a:off x="9966960" y="2194560"/>
            <a:ext cx="1508760" cy="914400"/>
          </a:xfrm>
          <a:prstGeom prst="roundRect">
            <a:avLst>
              <a:gd fmla="val 16667" name="adj"/>
            </a:avLst>
          </a:prstGeom>
          <a:solidFill>
            <a:srgbClr val="E7F8F2"/>
          </a:solidFill>
          <a:ln cap="flat" cmpd="sng" w="9525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F2D37"/>
                </a:solidFill>
                <a:latin typeface="Calibri"/>
                <a:ea typeface="Calibri"/>
                <a:cs typeface="Calibri"/>
                <a:sym typeface="Calibri"/>
              </a:rPr>
              <a:t>RESULT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2331720" y="2450592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4617720" y="2450592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177" name="Google Shape;177;p18"/>
          <p:cNvSpPr txBox="1"/>
          <p:nvPr/>
        </p:nvSpPr>
        <p:spPr>
          <a:xfrm>
            <a:off x="6720840" y="2450592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178" name="Google Shape;178;p18"/>
          <p:cNvSpPr txBox="1"/>
          <p:nvPr/>
        </p:nvSpPr>
        <p:spPr>
          <a:xfrm>
            <a:off x="9326880" y="2450592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179" name="Google Shape;179;p18"/>
          <p:cNvSpPr/>
          <p:nvPr/>
        </p:nvSpPr>
        <p:spPr>
          <a:xfrm>
            <a:off x="1828800" y="3886200"/>
            <a:ext cx="3840480" cy="1325880"/>
          </a:xfrm>
          <a:prstGeom prst="roundRect">
            <a:avLst>
              <a:gd fmla="val 16667" name="adj"/>
            </a:avLst>
          </a:prstGeom>
          <a:solidFill>
            <a:srgbClr val="F7FAF9"/>
          </a:solidFill>
          <a:ln cap="flat" cmpd="sng" w="9525">
            <a:solidFill>
              <a:srgbClr val="D7E6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8"/>
          <p:cNvSpPr txBox="1"/>
          <p:nvPr/>
        </p:nvSpPr>
        <p:spPr>
          <a:xfrm>
            <a:off x="1993392" y="4023360"/>
            <a:ext cx="351129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CSS Presentation</a:t>
            </a:r>
            <a:endParaRPr/>
          </a:p>
        </p:txBody>
      </p:sp>
      <p:sp>
        <p:nvSpPr>
          <p:cNvPr id="181" name="Google Shape;181;p18"/>
          <p:cNvSpPr txBox="1"/>
          <p:nvPr/>
        </p:nvSpPr>
        <p:spPr>
          <a:xfrm>
            <a:off x="1993392" y="4416552"/>
            <a:ext cx="3511296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0F2D37"/>
                </a:solidFill>
                <a:latin typeface="Calibri"/>
                <a:ea typeface="Calibri"/>
                <a:cs typeface="Calibri"/>
                <a:sym typeface="Calibri"/>
              </a:rPr>
              <a:t>Supports responsive layout and visual design.</a:t>
            </a:r>
            <a:endParaRPr/>
          </a:p>
        </p:txBody>
      </p:sp>
      <p:sp>
        <p:nvSpPr>
          <p:cNvPr id="182" name="Google Shape;182;p18"/>
          <p:cNvSpPr/>
          <p:nvPr/>
        </p:nvSpPr>
        <p:spPr>
          <a:xfrm>
            <a:off x="6492240" y="3886200"/>
            <a:ext cx="3840480" cy="1325880"/>
          </a:xfrm>
          <a:prstGeom prst="roundRect">
            <a:avLst>
              <a:gd fmla="val 16667" name="adj"/>
            </a:avLst>
          </a:prstGeom>
          <a:solidFill>
            <a:srgbClr val="F7FAF9"/>
          </a:solidFill>
          <a:ln cap="flat" cmpd="sng" w="9525">
            <a:solidFill>
              <a:srgbClr val="D7E6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8"/>
          <p:cNvSpPr txBox="1"/>
          <p:nvPr/>
        </p:nvSpPr>
        <p:spPr>
          <a:xfrm>
            <a:off x="6656831" y="4023360"/>
            <a:ext cx="351129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GitHub Pages Hosting</a:t>
            </a:r>
            <a:endParaRPr/>
          </a:p>
        </p:txBody>
      </p:sp>
      <p:sp>
        <p:nvSpPr>
          <p:cNvPr id="184" name="Google Shape;184;p18"/>
          <p:cNvSpPr txBox="1"/>
          <p:nvPr/>
        </p:nvSpPr>
        <p:spPr>
          <a:xfrm>
            <a:off x="6656831" y="4416552"/>
            <a:ext cx="3511296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0F2D37"/>
                </a:solidFill>
                <a:latin typeface="Calibri"/>
                <a:ea typeface="Calibri"/>
                <a:cs typeface="Calibri"/>
                <a:sym typeface="Calibri"/>
              </a:rPr>
              <a:t>Serves the HTML, CSS and JavaScript files publicly.</a:t>
            </a:r>
            <a:endParaRPr/>
          </a:p>
        </p:txBody>
      </p:sp>
      <p:sp>
        <p:nvSpPr>
          <p:cNvPr id="185" name="Google Shape;185;p18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0F2D3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8"/>
          <p:cNvSpPr txBox="1"/>
          <p:nvPr/>
        </p:nvSpPr>
        <p:spPr>
          <a:xfrm>
            <a:off x="11475720" y="664768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7F8F2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9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2D37"/>
                </a:solidFill>
                <a:latin typeface="Play"/>
                <a:ea typeface="Play"/>
                <a:cs typeface="Play"/>
                <a:sym typeface="Play"/>
              </a:rPr>
              <a:t>Core Feature: Food Advisor</a:t>
            </a:r>
            <a:endParaRPr/>
          </a:p>
        </p:txBody>
      </p:sp>
      <p:pic>
        <p:nvPicPr>
          <p:cNvPr descr="Screenshot (51)(1).png" id="192" name="Google Shape;19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325880"/>
            <a:ext cx="5394960" cy="32461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creenshot (52)(1).png" id="193" name="Google Shape;19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72200" y="1325880"/>
            <a:ext cx="5394960" cy="324612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9"/>
          <p:cNvSpPr/>
          <p:nvPr/>
        </p:nvSpPr>
        <p:spPr>
          <a:xfrm>
            <a:off x="822960" y="4846320"/>
            <a:ext cx="10607040" cy="1143000"/>
          </a:xfrm>
          <a:prstGeom prst="roundRect">
            <a:avLst>
              <a:gd fmla="val 16667" name="adj"/>
            </a:avLst>
          </a:prstGeom>
          <a:solidFill>
            <a:srgbClr val="F7FAF9"/>
          </a:solidFill>
          <a:ln cap="flat" cmpd="sng" w="9525">
            <a:solidFill>
              <a:srgbClr val="D7E6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9"/>
          <p:cNvSpPr txBox="1"/>
          <p:nvPr/>
        </p:nvSpPr>
        <p:spPr>
          <a:xfrm>
            <a:off x="987552" y="4983480"/>
            <a:ext cx="1027785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How it works</a:t>
            </a:r>
            <a:endParaRPr/>
          </a:p>
        </p:txBody>
      </p:sp>
      <p:sp>
        <p:nvSpPr>
          <p:cNvPr id="196" name="Google Shape;196;p19"/>
          <p:cNvSpPr txBox="1"/>
          <p:nvPr/>
        </p:nvSpPr>
        <p:spPr>
          <a:xfrm>
            <a:off x="987552" y="5376672"/>
            <a:ext cx="10277856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0F2D37"/>
                </a:solidFill>
                <a:latin typeface="Calibri"/>
                <a:ea typeface="Calibri"/>
                <a:cs typeface="Calibri"/>
                <a:sym typeface="Calibri"/>
              </a:rPr>
              <a:t>User enters a blood sugar value and selects a food/fruit. JavaScript applies simple rule-based logic and displays an immediate educational recommendation. No trained ML model or external AI API is claimed in the current implementation.</a:t>
            </a:r>
            <a:endParaRPr/>
          </a:p>
        </p:txBody>
      </p:sp>
      <p:sp>
        <p:nvSpPr>
          <p:cNvPr id="197" name="Google Shape;197;p19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0F2D3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9"/>
          <p:cNvSpPr txBox="1"/>
          <p:nvPr/>
        </p:nvSpPr>
        <p:spPr>
          <a:xfrm>
            <a:off x="11475720" y="664768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0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2D37"/>
                </a:solidFill>
                <a:latin typeface="Play"/>
                <a:ea typeface="Play"/>
                <a:cs typeface="Play"/>
                <a:sym typeface="Play"/>
              </a:rPr>
              <a:t>Supporting Wellness Features</a:t>
            </a:r>
            <a:endParaRPr/>
          </a:p>
        </p:txBody>
      </p:sp>
      <p:pic>
        <p:nvPicPr>
          <p:cNvPr descr="Screenshot (53)(1).png" id="204" name="Google Shape;20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" y="1325880"/>
            <a:ext cx="3611880" cy="21031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creenshot (54)(1).png" id="205" name="Google Shape;20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97680" y="1325880"/>
            <a:ext cx="3611880" cy="21031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creenshot (55)(1).png" id="206" name="Google Shape;206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01000" y="1325880"/>
            <a:ext cx="3611880" cy="210312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0"/>
          <p:cNvSpPr/>
          <p:nvPr/>
        </p:nvSpPr>
        <p:spPr>
          <a:xfrm>
            <a:off x="594360" y="3794760"/>
            <a:ext cx="3611880" cy="1508760"/>
          </a:xfrm>
          <a:prstGeom prst="roundRect">
            <a:avLst>
              <a:gd fmla="val 16667" name="adj"/>
            </a:avLst>
          </a:prstGeom>
          <a:solidFill>
            <a:srgbClr val="F7FAF9"/>
          </a:solidFill>
          <a:ln cap="flat" cmpd="sng" w="9525">
            <a:solidFill>
              <a:srgbClr val="D7E6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0"/>
          <p:cNvSpPr txBox="1"/>
          <p:nvPr/>
        </p:nvSpPr>
        <p:spPr>
          <a:xfrm>
            <a:off x="758952" y="3931920"/>
            <a:ext cx="328269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Healthy Diet Tips</a:t>
            </a:r>
            <a:endParaRPr/>
          </a:p>
        </p:txBody>
      </p:sp>
      <p:sp>
        <p:nvSpPr>
          <p:cNvPr id="209" name="Google Shape;209;p20"/>
          <p:cNvSpPr txBox="1"/>
          <p:nvPr/>
        </p:nvSpPr>
        <p:spPr>
          <a:xfrm>
            <a:off x="758952" y="4325112"/>
            <a:ext cx="3282696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0F2D37"/>
                </a:solidFill>
                <a:latin typeface="Calibri"/>
                <a:ea typeface="Calibri"/>
                <a:cs typeface="Calibri"/>
                <a:sym typeface="Calibri"/>
              </a:rPr>
              <a:t>Short cards on fiber, sugar, hydration, activity, portions and sleep.</a:t>
            </a:r>
            <a:endParaRPr/>
          </a:p>
        </p:txBody>
      </p:sp>
      <p:sp>
        <p:nvSpPr>
          <p:cNvPr id="210" name="Google Shape;210;p20"/>
          <p:cNvSpPr/>
          <p:nvPr/>
        </p:nvSpPr>
        <p:spPr>
          <a:xfrm>
            <a:off x="4297680" y="3794760"/>
            <a:ext cx="3611880" cy="1508760"/>
          </a:xfrm>
          <a:prstGeom prst="roundRect">
            <a:avLst>
              <a:gd fmla="val 16667" name="adj"/>
            </a:avLst>
          </a:prstGeom>
          <a:solidFill>
            <a:srgbClr val="F7FAF9"/>
          </a:solidFill>
          <a:ln cap="flat" cmpd="sng" w="9525">
            <a:solidFill>
              <a:srgbClr val="D7E6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0"/>
          <p:cNvSpPr txBox="1"/>
          <p:nvPr/>
        </p:nvSpPr>
        <p:spPr>
          <a:xfrm>
            <a:off x="4462272" y="3931920"/>
            <a:ext cx="328269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BMI Calculator</a:t>
            </a:r>
            <a:endParaRPr/>
          </a:p>
        </p:txBody>
      </p:sp>
      <p:sp>
        <p:nvSpPr>
          <p:cNvPr id="212" name="Google Shape;212;p20"/>
          <p:cNvSpPr txBox="1"/>
          <p:nvPr/>
        </p:nvSpPr>
        <p:spPr>
          <a:xfrm>
            <a:off x="4462272" y="4325112"/>
            <a:ext cx="3282696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0F2D37"/>
                </a:solidFill>
                <a:latin typeface="Calibri"/>
                <a:ea typeface="Calibri"/>
                <a:cs typeface="Calibri"/>
                <a:sym typeface="Calibri"/>
              </a:rPr>
              <a:t>Calculates BMI from height and weight and displays a category.</a:t>
            </a:r>
            <a:endParaRPr/>
          </a:p>
        </p:txBody>
      </p:sp>
      <p:sp>
        <p:nvSpPr>
          <p:cNvPr id="213" name="Google Shape;213;p20"/>
          <p:cNvSpPr/>
          <p:nvPr/>
        </p:nvSpPr>
        <p:spPr>
          <a:xfrm>
            <a:off x="8001000" y="3794760"/>
            <a:ext cx="3611880" cy="1508760"/>
          </a:xfrm>
          <a:prstGeom prst="roundRect">
            <a:avLst>
              <a:gd fmla="val 16667" name="adj"/>
            </a:avLst>
          </a:prstGeom>
          <a:solidFill>
            <a:srgbClr val="F7FAF9"/>
          </a:solidFill>
          <a:ln cap="flat" cmpd="sng" w="9525">
            <a:solidFill>
              <a:srgbClr val="D7E6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0"/>
          <p:cNvSpPr txBox="1"/>
          <p:nvPr/>
        </p:nvSpPr>
        <p:spPr>
          <a:xfrm>
            <a:off x="8165592" y="3931920"/>
            <a:ext cx="328269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Water Tracker</a:t>
            </a:r>
            <a:endParaRPr/>
          </a:p>
        </p:txBody>
      </p:sp>
      <p:sp>
        <p:nvSpPr>
          <p:cNvPr id="215" name="Google Shape;215;p20"/>
          <p:cNvSpPr txBox="1"/>
          <p:nvPr/>
        </p:nvSpPr>
        <p:spPr>
          <a:xfrm>
            <a:off x="8165592" y="4325112"/>
            <a:ext cx="3282696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0F2D37"/>
                </a:solidFill>
                <a:latin typeface="Calibri"/>
                <a:ea typeface="Calibri"/>
                <a:cs typeface="Calibri"/>
                <a:sym typeface="Calibri"/>
              </a:rPr>
              <a:t>Tracks progress toward the displayed daily hydration goal.</a:t>
            </a:r>
            <a:endParaRPr/>
          </a:p>
        </p:txBody>
      </p:sp>
      <p:sp>
        <p:nvSpPr>
          <p:cNvPr id="216" name="Google Shape;216;p20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0F2D3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0"/>
          <p:cNvSpPr txBox="1"/>
          <p:nvPr/>
        </p:nvSpPr>
        <p:spPr>
          <a:xfrm>
            <a:off x="11475720" y="664768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7F8F2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2D37"/>
                </a:solidFill>
                <a:latin typeface="Play"/>
                <a:ea typeface="Play"/>
                <a:cs typeface="Play"/>
                <a:sym typeface="Play"/>
              </a:rPr>
              <a:t>Development Methodology</a:t>
            </a:r>
            <a:endParaRPr/>
          </a:p>
        </p:txBody>
      </p:sp>
      <p:sp>
        <p:nvSpPr>
          <p:cNvPr id="223" name="Google Shape;223;p21"/>
          <p:cNvSpPr/>
          <p:nvPr/>
        </p:nvSpPr>
        <p:spPr>
          <a:xfrm>
            <a:off x="731520" y="1417320"/>
            <a:ext cx="3383280" cy="1691640"/>
          </a:xfrm>
          <a:prstGeom prst="roundRect">
            <a:avLst>
              <a:gd fmla="val 16667" name="adj"/>
            </a:avLst>
          </a:prstGeom>
          <a:solidFill>
            <a:srgbClr val="F7FAF9"/>
          </a:solidFill>
          <a:ln cap="flat" cmpd="sng" w="9525">
            <a:solidFill>
              <a:srgbClr val="D7E6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1"/>
          <p:cNvSpPr txBox="1"/>
          <p:nvPr/>
        </p:nvSpPr>
        <p:spPr>
          <a:xfrm>
            <a:off x="896112" y="1554480"/>
            <a:ext cx="305409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1. Problem Selection</a:t>
            </a:r>
            <a:endParaRPr/>
          </a:p>
        </p:txBody>
      </p:sp>
      <p:sp>
        <p:nvSpPr>
          <p:cNvPr id="225" name="Google Shape;225;p21"/>
          <p:cNvSpPr txBox="1"/>
          <p:nvPr/>
        </p:nvSpPr>
        <p:spPr>
          <a:xfrm>
            <a:off x="896112" y="1947672"/>
            <a:ext cx="3054096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0F2D37"/>
                </a:solidFill>
                <a:latin typeface="Calibri"/>
                <a:ea typeface="Calibri"/>
                <a:cs typeface="Calibri"/>
                <a:sym typeface="Calibri"/>
              </a:rPr>
              <a:t>Health &amp; wellness theme + SDG 3</a:t>
            </a:r>
            <a:endParaRPr/>
          </a:p>
        </p:txBody>
      </p:sp>
      <p:sp>
        <p:nvSpPr>
          <p:cNvPr id="226" name="Google Shape;226;p21"/>
          <p:cNvSpPr/>
          <p:nvPr/>
        </p:nvSpPr>
        <p:spPr>
          <a:xfrm>
            <a:off x="4480559" y="1417320"/>
            <a:ext cx="3383280" cy="1691640"/>
          </a:xfrm>
          <a:prstGeom prst="roundRect">
            <a:avLst>
              <a:gd fmla="val 16667" name="adj"/>
            </a:avLst>
          </a:prstGeom>
          <a:solidFill>
            <a:srgbClr val="F7FAF9"/>
          </a:solidFill>
          <a:ln cap="flat" cmpd="sng" w="9525">
            <a:solidFill>
              <a:srgbClr val="D7E6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1"/>
          <p:cNvSpPr txBox="1"/>
          <p:nvPr/>
        </p:nvSpPr>
        <p:spPr>
          <a:xfrm>
            <a:off x="4645151" y="1554480"/>
            <a:ext cx="305409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2. Requirements</a:t>
            </a:r>
            <a:endParaRPr/>
          </a:p>
        </p:txBody>
      </p:sp>
      <p:sp>
        <p:nvSpPr>
          <p:cNvPr id="228" name="Google Shape;228;p21"/>
          <p:cNvSpPr txBox="1"/>
          <p:nvPr/>
        </p:nvSpPr>
        <p:spPr>
          <a:xfrm>
            <a:off x="4645151" y="1947672"/>
            <a:ext cx="3054096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0F2D37"/>
                </a:solidFill>
                <a:latin typeface="Calibri"/>
                <a:ea typeface="Calibri"/>
                <a:cs typeface="Calibri"/>
                <a:sym typeface="Calibri"/>
              </a:rPr>
              <a:t>Advisor + wellness utilities</a:t>
            </a:r>
            <a:endParaRPr/>
          </a:p>
        </p:txBody>
      </p:sp>
      <p:sp>
        <p:nvSpPr>
          <p:cNvPr id="229" name="Google Shape;229;p21"/>
          <p:cNvSpPr/>
          <p:nvPr/>
        </p:nvSpPr>
        <p:spPr>
          <a:xfrm>
            <a:off x="8229600" y="1417320"/>
            <a:ext cx="3383280" cy="1691640"/>
          </a:xfrm>
          <a:prstGeom prst="roundRect">
            <a:avLst>
              <a:gd fmla="val 16667" name="adj"/>
            </a:avLst>
          </a:prstGeom>
          <a:solidFill>
            <a:srgbClr val="F7FAF9"/>
          </a:solidFill>
          <a:ln cap="flat" cmpd="sng" w="9525">
            <a:solidFill>
              <a:srgbClr val="D7E6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1"/>
          <p:cNvSpPr txBox="1"/>
          <p:nvPr/>
        </p:nvSpPr>
        <p:spPr>
          <a:xfrm>
            <a:off x="8394192" y="1554480"/>
            <a:ext cx="305409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3. UI Design</a:t>
            </a:r>
            <a:endParaRPr/>
          </a:p>
        </p:txBody>
      </p:sp>
      <p:sp>
        <p:nvSpPr>
          <p:cNvPr id="231" name="Google Shape;231;p21"/>
          <p:cNvSpPr txBox="1"/>
          <p:nvPr/>
        </p:nvSpPr>
        <p:spPr>
          <a:xfrm>
            <a:off x="8394192" y="1947672"/>
            <a:ext cx="3054096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0F2D37"/>
                </a:solidFill>
                <a:latin typeface="Calibri"/>
                <a:ea typeface="Calibri"/>
                <a:cs typeface="Calibri"/>
                <a:sym typeface="Calibri"/>
              </a:rPr>
              <a:t>Single-page responsive navigation</a:t>
            </a:r>
            <a:endParaRPr/>
          </a:p>
        </p:txBody>
      </p:sp>
      <p:sp>
        <p:nvSpPr>
          <p:cNvPr id="232" name="Google Shape;232;p21"/>
          <p:cNvSpPr/>
          <p:nvPr/>
        </p:nvSpPr>
        <p:spPr>
          <a:xfrm>
            <a:off x="731520" y="3657600"/>
            <a:ext cx="3383280" cy="1691640"/>
          </a:xfrm>
          <a:prstGeom prst="roundRect">
            <a:avLst>
              <a:gd fmla="val 16667" name="adj"/>
            </a:avLst>
          </a:prstGeom>
          <a:solidFill>
            <a:srgbClr val="F7FAF9"/>
          </a:solidFill>
          <a:ln cap="flat" cmpd="sng" w="9525">
            <a:solidFill>
              <a:srgbClr val="D7E6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1"/>
          <p:cNvSpPr txBox="1"/>
          <p:nvPr/>
        </p:nvSpPr>
        <p:spPr>
          <a:xfrm>
            <a:off x="896112" y="3794760"/>
            <a:ext cx="305409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4. Implementation</a:t>
            </a:r>
            <a:endParaRPr/>
          </a:p>
        </p:txBody>
      </p:sp>
      <p:sp>
        <p:nvSpPr>
          <p:cNvPr id="234" name="Google Shape;234;p21"/>
          <p:cNvSpPr txBox="1"/>
          <p:nvPr/>
        </p:nvSpPr>
        <p:spPr>
          <a:xfrm>
            <a:off x="896112" y="4187952"/>
            <a:ext cx="3054096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0F2D37"/>
                </a:solidFill>
                <a:latin typeface="Calibri"/>
                <a:ea typeface="Calibri"/>
                <a:cs typeface="Calibri"/>
                <a:sym typeface="Calibri"/>
              </a:rPr>
              <a:t>HTML + CSS + JavaScript</a:t>
            </a:r>
            <a:endParaRPr/>
          </a:p>
        </p:txBody>
      </p:sp>
      <p:sp>
        <p:nvSpPr>
          <p:cNvPr id="235" name="Google Shape;235;p21"/>
          <p:cNvSpPr/>
          <p:nvPr/>
        </p:nvSpPr>
        <p:spPr>
          <a:xfrm>
            <a:off x="4480559" y="3657600"/>
            <a:ext cx="3383280" cy="1691640"/>
          </a:xfrm>
          <a:prstGeom prst="roundRect">
            <a:avLst>
              <a:gd fmla="val 16667" name="adj"/>
            </a:avLst>
          </a:prstGeom>
          <a:solidFill>
            <a:srgbClr val="F7FAF9"/>
          </a:solidFill>
          <a:ln cap="flat" cmpd="sng" w="9525">
            <a:solidFill>
              <a:srgbClr val="D7E6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1"/>
          <p:cNvSpPr txBox="1"/>
          <p:nvPr/>
        </p:nvSpPr>
        <p:spPr>
          <a:xfrm>
            <a:off x="4645151" y="3794760"/>
            <a:ext cx="305409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5. Testing</a:t>
            </a:r>
            <a:endParaRPr/>
          </a:p>
        </p:txBody>
      </p:sp>
      <p:sp>
        <p:nvSpPr>
          <p:cNvPr id="237" name="Google Shape;237;p21"/>
          <p:cNvSpPr txBox="1"/>
          <p:nvPr/>
        </p:nvSpPr>
        <p:spPr>
          <a:xfrm>
            <a:off x="4645151" y="4187952"/>
            <a:ext cx="3054096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0F2D37"/>
                </a:solidFill>
                <a:latin typeface="Calibri"/>
                <a:ea typeface="Calibri"/>
                <a:cs typeface="Calibri"/>
                <a:sym typeface="Calibri"/>
              </a:rPr>
              <a:t>Browser testing of interactions</a:t>
            </a:r>
            <a:endParaRPr/>
          </a:p>
        </p:txBody>
      </p:sp>
      <p:sp>
        <p:nvSpPr>
          <p:cNvPr id="238" name="Google Shape;238;p21"/>
          <p:cNvSpPr/>
          <p:nvPr/>
        </p:nvSpPr>
        <p:spPr>
          <a:xfrm>
            <a:off x="8229600" y="3657600"/>
            <a:ext cx="3383280" cy="1691640"/>
          </a:xfrm>
          <a:prstGeom prst="roundRect">
            <a:avLst>
              <a:gd fmla="val 16667" name="adj"/>
            </a:avLst>
          </a:prstGeom>
          <a:solidFill>
            <a:srgbClr val="F7FAF9"/>
          </a:solidFill>
          <a:ln cap="flat" cmpd="sng" w="9525">
            <a:solidFill>
              <a:srgbClr val="D7E6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1"/>
          <p:cNvSpPr txBox="1"/>
          <p:nvPr/>
        </p:nvSpPr>
        <p:spPr>
          <a:xfrm>
            <a:off x="8394192" y="3794760"/>
            <a:ext cx="305409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6. Deployment</a:t>
            </a:r>
            <a:endParaRPr/>
          </a:p>
        </p:txBody>
      </p:sp>
      <p:sp>
        <p:nvSpPr>
          <p:cNvPr id="240" name="Google Shape;240;p21"/>
          <p:cNvSpPr txBox="1"/>
          <p:nvPr/>
        </p:nvSpPr>
        <p:spPr>
          <a:xfrm>
            <a:off x="8394192" y="4187952"/>
            <a:ext cx="3054096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0F2D37"/>
                </a:solidFill>
                <a:latin typeface="Calibri"/>
                <a:ea typeface="Calibri"/>
                <a:cs typeface="Calibri"/>
                <a:sym typeface="Calibri"/>
              </a:rPr>
              <a:t>GitHub repository + GitHub Pages</a:t>
            </a:r>
            <a:endParaRPr/>
          </a:p>
        </p:txBody>
      </p:sp>
      <p:sp>
        <p:nvSpPr>
          <p:cNvPr id="241" name="Google Shape;241;p21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0F2D3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1"/>
          <p:cNvSpPr txBox="1"/>
          <p:nvPr/>
        </p:nvSpPr>
        <p:spPr>
          <a:xfrm>
            <a:off x="11475720" y="664768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2D37"/>
                </a:solidFill>
                <a:latin typeface="Play"/>
                <a:ea typeface="Play"/>
                <a:cs typeface="Play"/>
                <a:sym typeface="Play"/>
              </a:rPr>
              <a:t>Project Outcomes &amp; Internship Learning</a:t>
            </a:r>
            <a:endParaRPr/>
          </a:p>
        </p:txBody>
      </p:sp>
      <p:sp>
        <p:nvSpPr>
          <p:cNvPr id="248" name="Google Shape;248;p22"/>
          <p:cNvSpPr/>
          <p:nvPr/>
        </p:nvSpPr>
        <p:spPr>
          <a:xfrm>
            <a:off x="731520" y="1417320"/>
            <a:ext cx="5303520" cy="4480560"/>
          </a:xfrm>
          <a:prstGeom prst="roundRect">
            <a:avLst>
              <a:gd fmla="val 16667" name="adj"/>
            </a:avLst>
          </a:prstGeom>
          <a:solidFill>
            <a:srgbClr val="F7FAF9"/>
          </a:solidFill>
          <a:ln cap="flat" cmpd="sng" w="9525">
            <a:solidFill>
              <a:srgbClr val="D7E6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2"/>
          <p:cNvSpPr txBox="1"/>
          <p:nvPr/>
        </p:nvSpPr>
        <p:spPr>
          <a:xfrm>
            <a:off x="896112" y="1554480"/>
            <a:ext cx="497433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Project Outcomes</a:t>
            </a:r>
            <a:endParaRPr/>
          </a:p>
        </p:txBody>
      </p:sp>
      <p:sp>
        <p:nvSpPr>
          <p:cNvPr id="250" name="Google Shape;250;p22"/>
          <p:cNvSpPr txBox="1"/>
          <p:nvPr/>
        </p:nvSpPr>
        <p:spPr>
          <a:xfrm>
            <a:off x="896112" y="1947672"/>
            <a:ext cx="4974336" cy="3840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0F2D37"/>
                </a:solidFill>
                <a:latin typeface="Calibri"/>
                <a:ea typeface="Calibri"/>
                <a:cs typeface="Calibri"/>
                <a:sym typeface="Calibri"/>
              </a:rPr>
              <a:t>• Working public web application</a:t>
            </a:r>
            <a:br>
              <a:rPr b="0" i="0" lang="en-US" sz="1250" u="none" cap="none" strike="noStrike">
                <a:solidFill>
                  <a:srgbClr val="0F2D37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50" u="none" cap="none" strike="noStrike">
                <a:solidFill>
                  <a:srgbClr val="0F2D37"/>
                </a:solidFill>
                <a:latin typeface="Calibri"/>
                <a:ea typeface="Calibri"/>
                <a:cs typeface="Calibri"/>
                <a:sym typeface="Calibri"/>
              </a:rPr>
              <a:t>• Food-advisor interaction</a:t>
            </a:r>
            <a:br>
              <a:rPr b="0" i="0" lang="en-US" sz="1250" u="none" cap="none" strike="noStrike">
                <a:solidFill>
                  <a:srgbClr val="0F2D37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50" u="none" cap="none" strike="noStrike">
                <a:solidFill>
                  <a:srgbClr val="0F2D37"/>
                </a:solidFill>
                <a:latin typeface="Calibri"/>
                <a:ea typeface="Calibri"/>
                <a:cs typeface="Calibri"/>
                <a:sym typeface="Calibri"/>
              </a:rPr>
              <a:t>• BMI calculator</a:t>
            </a:r>
            <a:br>
              <a:rPr b="0" i="0" lang="en-US" sz="1250" u="none" cap="none" strike="noStrike">
                <a:solidFill>
                  <a:srgbClr val="0F2D37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50" u="none" cap="none" strike="noStrike">
                <a:solidFill>
                  <a:srgbClr val="0F2D37"/>
                </a:solidFill>
                <a:latin typeface="Calibri"/>
                <a:ea typeface="Calibri"/>
                <a:cs typeface="Calibri"/>
                <a:sym typeface="Calibri"/>
              </a:rPr>
              <a:t>• Water-intake tracker</a:t>
            </a:r>
            <a:br>
              <a:rPr b="0" i="0" lang="en-US" sz="1250" u="none" cap="none" strike="noStrike">
                <a:solidFill>
                  <a:srgbClr val="0F2D37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50" u="none" cap="none" strike="noStrike">
                <a:solidFill>
                  <a:srgbClr val="0F2D37"/>
                </a:solidFill>
                <a:latin typeface="Calibri"/>
                <a:ea typeface="Calibri"/>
                <a:cs typeface="Calibri"/>
                <a:sym typeface="Calibri"/>
              </a:rPr>
              <a:t>• Responsive health-oriented UI</a:t>
            </a:r>
            <a:br>
              <a:rPr b="0" i="0" lang="en-US" sz="1250" u="none" cap="none" strike="noStrike">
                <a:solidFill>
                  <a:srgbClr val="0F2D37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50" u="none" cap="none" strike="noStrike">
                <a:solidFill>
                  <a:srgbClr val="0F2D37"/>
                </a:solidFill>
                <a:latin typeface="Calibri"/>
                <a:ea typeface="Calibri"/>
                <a:cs typeface="Calibri"/>
                <a:sym typeface="Calibri"/>
              </a:rPr>
              <a:t>• GitHub source repository</a:t>
            </a:r>
            <a:br>
              <a:rPr b="0" i="0" lang="en-US" sz="1250" u="none" cap="none" strike="noStrike">
                <a:solidFill>
                  <a:srgbClr val="0F2D37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50" u="none" cap="none" strike="noStrike">
                <a:solidFill>
                  <a:srgbClr val="0F2D37"/>
                </a:solidFill>
                <a:latin typeface="Calibri"/>
                <a:ea typeface="Calibri"/>
                <a:cs typeface="Calibri"/>
                <a:sym typeface="Calibri"/>
              </a:rPr>
              <a:t>• GitHub Pages deployment</a:t>
            </a:r>
            <a:br>
              <a:rPr b="0" i="0" lang="en-US" sz="1250" u="none" cap="none" strike="noStrike">
                <a:solidFill>
                  <a:srgbClr val="0F2D37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50" u="none" cap="none" strike="noStrike">
                <a:solidFill>
                  <a:srgbClr val="0F2D37"/>
                </a:solidFill>
                <a:latin typeface="Calibri"/>
                <a:ea typeface="Calibri"/>
                <a:cs typeface="Calibri"/>
                <a:sym typeface="Calibri"/>
              </a:rPr>
              <a:t>• SDG 3 alignment</a:t>
            </a:r>
            <a:endParaRPr/>
          </a:p>
        </p:txBody>
      </p:sp>
      <p:sp>
        <p:nvSpPr>
          <p:cNvPr id="251" name="Google Shape;251;p22"/>
          <p:cNvSpPr/>
          <p:nvPr/>
        </p:nvSpPr>
        <p:spPr>
          <a:xfrm>
            <a:off x="6263640" y="1417320"/>
            <a:ext cx="5166360" cy="4480560"/>
          </a:xfrm>
          <a:prstGeom prst="roundRect">
            <a:avLst>
              <a:gd fmla="val 16667" name="adj"/>
            </a:avLst>
          </a:prstGeom>
          <a:solidFill>
            <a:srgbClr val="F7FAF9"/>
          </a:solidFill>
          <a:ln cap="flat" cmpd="sng" w="9525">
            <a:solidFill>
              <a:srgbClr val="D7E6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2"/>
          <p:cNvSpPr txBox="1"/>
          <p:nvPr/>
        </p:nvSpPr>
        <p:spPr>
          <a:xfrm>
            <a:off x="6428231" y="1554480"/>
            <a:ext cx="483717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Internship Learning</a:t>
            </a:r>
            <a:endParaRPr/>
          </a:p>
        </p:txBody>
      </p:sp>
      <p:sp>
        <p:nvSpPr>
          <p:cNvPr id="253" name="Google Shape;253;p22"/>
          <p:cNvSpPr txBox="1"/>
          <p:nvPr/>
        </p:nvSpPr>
        <p:spPr>
          <a:xfrm>
            <a:off x="6428231" y="1947672"/>
            <a:ext cx="4837176" cy="3840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0F2D37"/>
                </a:solidFill>
                <a:latin typeface="Calibri"/>
                <a:ea typeface="Calibri"/>
                <a:cs typeface="Calibri"/>
                <a:sym typeface="Calibri"/>
              </a:rPr>
              <a:t>• Product-oriented development workflow</a:t>
            </a:r>
            <a:br>
              <a:rPr b="0" i="0" lang="en-US" sz="1250" u="none" cap="none" strike="noStrike">
                <a:solidFill>
                  <a:srgbClr val="0F2D37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50" u="none" cap="none" strike="noStrike">
                <a:solidFill>
                  <a:srgbClr val="0F2D37"/>
                </a:solidFill>
                <a:latin typeface="Calibri"/>
                <a:ea typeface="Calibri"/>
                <a:cs typeface="Calibri"/>
                <a:sym typeface="Calibri"/>
              </a:rPr>
              <a:t>• Prompt engineering concepts</a:t>
            </a:r>
            <a:br>
              <a:rPr b="0" i="0" lang="en-US" sz="1250" u="none" cap="none" strike="noStrike">
                <a:solidFill>
                  <a:srgbClr val="0F2D37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50" u="none" cap="none" strike="noStrike">
                <a:solidFill>
                  <a:srgbClr val="0F2D37"/>
                </a:solidFill>
                <a:latin typeface="Calibri"/>
                <a:ea typeface="Calibri"/>
                <a:cs typeface="Calibri"/>
                <a:sym typeface="Calibri"/>
              </a:rPr>
              <a:t>• Masterclass and mentoring exposure</a:t>
            </a:r>
            <a:br>
              <a:rPr b="0" i="0" lang="en-US" sz="1250" u="none" cap="none" strike="noStrike">
                <a:solidFill>
                  <a:srgbClr val="0F2D37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50" u="none" cap="none" strike="noStrike">
                <a:solidFill>
                  <a:srgbClr val="0F2D37"/>
                </a:solidFill>
                <a:latin typeface="Calibri"/>
                <a:ea typeface="Calibri"/>
                <a:cs typeface="Calibri"/>
                <a:sym typeface="Calibri"/>
              </a:rPr>
              <a:t>• Project planning and implementation</a:t>
            </a:r>
            <a:br>
              <a:rPr b="0" i="0" lang="en-US" sz="1250" u="none" cap="none" strike="noStrike">
                <a:solidFill>
                  <a:srgbClr val="0F2D37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50" u="none" cap="none" strike="noStrike">
                <a:solidFill>
                  <a:srgbClr val="0F2D37"/>
                </a:solidFill>
                <a:latin typeface="Calibri"/>
                <a:ea typeface="Calibri"/>
                <a:cs typeface="Calibri"/>
                <a:sym typeface="Calibri"/>
              </a:rPr>
              <a:t>• Assessment participation</a:t>
            </a:r>
            <a:br>
              <a:rPr b="0" i="0" lang="en-US" sz="1250" u="none" cap="none" strike="noStrike">
                <a:solidFill>
                  <a:srgbClr val="0F2D37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50" u="none" cap="none" strike="noStrike">
                <a:solidFill>
                  <a:srgbClr val="0F2D37"/>
                </a:solidFill>
                <a:latin typeface="Calibri"/>
                <a:ea typeface="Calibri"/>
                <a:cs typeface="Calibri"/>
                <a:sym typeface="Calibri"/>
              </a:rPr>
              <a:t>• Career-readiness exposure</a:t>
            </a:r>
            <a:br>
              <a:rPr b="0" i="0" lang="en-US" sz="1250" u="none" cap="none" strike="noStrike">
                <a:solidFill>
                  <a:srgbClr val="0F2D37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50" u="none" cap="none" strike="noStrike">
                <a:solidFill>
                  <a:srgbClr val="0F2D37"/>
                </a:solidFill>
                <a:latin typeface="Calibri"/>
                <a:ea typeface="Calibri"/>
                <a:cs typeface="Calibri"/>
                <a:sym typeface="Calibri"/>
              </a:rPr>
              <a:t>• Documentation and presentation skills</a:t>
            </a:r>
            <a:endParaRPr/>
          </a:p>
        </p:txBody>
      </p:sp>
      <p:sp>
        <p:nvSpPr>
          <p:cNvPr id="254" name="Google Shape;254;p22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0F2D3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2"/>
          <p:cNvSpPr txBox="1"/>
          <p:nvPr/>
        </p:nvSpPr>
        <p:spPr>
          <a:xfrm>
            <a:off x="11475720" y="664768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7F8F2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3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2D37"/>
                </a:solidFill>
                <a:latin typeface="Play"/>
                <a:ea typeface="Play"/>
                <a:cs typeface="Play"/>
                <a:sym typeface="Play"/>
              </a:rPr>
              <a:t>Limitations &amp; Future Scope</a:t>
            </a:r>
            <a:endParaRPr/>
          </a:p>
        </p:txBody>
      </p:sp>
      <p:sp>
        <p:nvSpPr>
          <p:cNvPr id="261" name="Google Shape;261;p23"/>
          <p:cNvSpPr txBox="1"/>
          <p:nvPr/>
        </p:nvSpPr>
        <p:spPr>
          <a:xfrm>
            <a:off x="822960" y="1463040"/>
            <a:ext cx="10515600" cy="448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0F2D37"/>
                </a:solidFill>
                <a:latin typeface="Arial"/>
                <a:ea typeface="Arial"/>
                <a:cs typeface="Arial"/>
                <a:sym typeface="Arial"/>
              </a:rPr>
              <a:t>Current recommendations are rule-based and educational.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0F2D37"/>
                </a:solidFill>
                <a:latin typeface="Arial"/>
                <a:ea typeface="Arial"/>
                <a:cs typeface="Arial"/>
                <a:sym typeface="Arial"/>
              </a:rPr>
              <a:t>No clinical diagnosis, prescription or individualized medical treatment.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0F2D37"/>
                </a:solidFill>
                <a:latin typeface="Arial"/>
                <a:ea typeface="Arial"/>
                <a:cs typeface="Arial"/>
                <a:sym typeface="Arial"/>
              </a:rPr>
              <a:t>Future version can use validated nutrition datasets.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0F2D37"/>
                </a:solidFill>
                <a:latin typeface="Arial"/>
                <a:ea typeface="Arial"/>
                <a:cs typeface="Arial"/>
                <a:sym typeface="Arial"/>
              </a:rPr>
              <a:t>Add persistent user profiles and secure backend services.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0F2D37"/>
                </a:solidFill>
                <a:latin typeface="Arial"/>
                <a:ea typeface="Arial"/>
                <a:cs typeface="Arial"/>
                <a:sym typeface="Arial"/>
              </a:rPr>
              <a:t>Improve accessibility and automated testing.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0F2D37"/>
                </a:solidFill>
                <a:latin typeface="Arial"/>
                <a:ea typeface="Arial"/>
                <a:cs typeface="Arial"/>
                <a:sym typeface="Arial"/>
              </a:rPr>
              <a:t>AI/ML personalization should be added only with validated data and appropriate safety review.</a:t>
            </a:r>
            <a:endParaRPr/>
          </a:p>
        </p:txBody>
      </p:sp>
      <p:sp>
        <p:nvSpPr>
          <p:cNvPr id="262" name="Google Shape;262;p23"/>
          <p:cNvSpPr/>
          <p:nvPr/>
        </p:nvSpPr>
        <p:spPr>
          <a:xfrm>
            <a:off x="1280160" y="5349240"/>
            <a:ext cx="9601200" cy="731520"/>
          </a:xfrm>
          <a:prstGeom prst="roundRect">
            <a:avLst>
              <a:gd fmla="val 16667" name="adj"/>
            </a:avLst>
          </a:prstGeom>
          <a:solidFill>
            <a:srgbClr val="F7FAF9"/>
          </a:solidFill>
          <a:ln cap="flat" cmpd="sng" w="9525">
            <a:solidFill>
              <a:srgbClr val="D7E6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3"/>
          <p:cNvSpPr txBox="1"/>
          <p:nvPr/>
        </p:nvSpPr>
        <p:spPr>
          <a:xfrm>
            <a:off x="1444751" y="5486400"/>
            <a:ext cx="927201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Responsible Scope</a:t>
            </a:r>
            <a:endParaRPr/>
          </a:p>
        </p:txBody>
      </p:sp>
      <p:sp>
        <p:nvSpPr>
          <p:cNvPr id="264" name="Google Shape;264;p23"/>
          <p:cNvSpPr txBox="1"/>
          <p:nvPr/>
        </p:nvSpPr>
        <p:spPr>
          <a:xfrm>
            <a:off x="1444751" y="5879592"/>
            <a:ext cx="9272016" cy="91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0F2D37"/>
                </a:solidFill>
                <a:latin typeface="Calibri"/>
                <a:ea typeface="Calibri"/>
                <a:cs typeface="Calibri"/>
                <a:sym typeface="Calibri"/>
              </a:rPr>
              <a:t>The project demonstrates web development and health-awareness product design; it does not replace professional medical advice.</a:t>
            </a:r>
            <a:endParaRPr/>
          </a:p>
        </p:txBody>
      </p:sp>
      <p:sp>
        <p:nvSpPr>
          <p:cNvPr id="265" name="Google Shape;265;p23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0F2D3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3"/>
          <p:cNvSpPr txBox="1"/>
          <p:nvPr/>
        </p:nvSpPr>
        <p:spPr>
          <a:xfrm>
            <a:off x="11475720" y="664768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4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2D37"/>
                </a:solidFill>
                <a:latin typeface="Play"/>
                <a:ea typeface="Play"/>
                <a:cs typeface="Play"/>
                <a:sym typeface="Play"/>
              </a:rPr>
              <a:t>Conclusion</a:t>
            </a:r>
            <a:endParaRPr/>
          </a:p>
        </p:txBody>
      </p:sp>
      <p:pic>
        <p:nvPicPr>
          <p:cNvPr descr="Screenshot (56)(1).png" id="272" name="Google Shape;27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72200" y="1417320"/>
            <a:ext cx="5120640" cy="292608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4"/>
          <p:cNvSpPr txBox="1"/>
          <p:nvPr/>
        </p:nvSpPr>
        <p:spPr>
          <a:xfrm>
            <a:off x="731520" y="155448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F2D37"/>
                </a:solidFill>
                <a:latin typeface="Arial"/>
                <a:ea typeface="Arial"/>
                <a:cs typeface="Arial"/>
                <a:sym typeface="Arial"/>
              </a:rPr>
              <a:t>DiaDiet converts an SDG-oriented idea into a working web product.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F2D37"/>
                </a:solidFill>
                <a:latin typeface="Arial"/>
                <a:ea typeface="Arial"/>
                <a:cs typeface="Arial"/>
                <a:sym typeface="Arial"/>
              </a:rPr>
              <a:t>The project demonstrates front-end development and interactive JavaScript.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F2D37"/>
                </a:solidFill>
                <a:latin typeface="Arial"/>
                <a:ea typeface="Arial"/>
                <a:cs typeface="Arial"/>
                <a:sym typeface="Arial"/>
              </a:rPr>
              <a:t>The internship provided structured masterclass, mentoring and assessment exposure.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F2D37"/>
                </a:solidFill>
                <a:latin typeface="Arial"/>
                <a:ea typeface="Arial"/>
                <a:cs typeface="Arial"/>
                <a:sym typeface="Arial"/>
              </a:rPr>
              <a:t>The application is publicly accessible and supported by a public source repository.</a:t>
            </a:r>
            <a:endParaRPr/>
          </a:p>
        </p:txBody>
      </p:sp>
      <p:sp>
        <p:nvSpPr>
          <p:cNvPr id="274" name="Google Shape;274;p24"/>
          <p:cNvSpPr/>
          <p:nvPr/>
        </p:nvSpPr>
        <p:spPr>
          <a:xfrm>
            <a:off x="6172200" y="4617720"/>
            <a:ext cx="5120640" cy="1097280"/>
          </a:xfrm>
          <a:prstGeom prst="roundRect">
            <a:avLst>
              <a:gd fmla="val 16667" name="adj"/>
            </a:avLst>
          </a:prstGeom>
          <a:solidFill>
            <a:srgbClr val="F7FAF9"/>
          </a:solidFill>
          <a:ln cap="flat" cmpd="sng" w="9525">
            <a:solidFill>
              <a:srgbClr val="D7E6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4"/>
          <p:cNvSpPr txBox="1"/>
          <p:nvPr/>
        </p:nvSpPr>
        <p:spPr>
          <a:xfrm>
            <a:off x="6336792" y="4754880"/>
            <a:ext cx="4791455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Repository</a:t>
            </a:r>
            <a:endParaRPr/>
          </a:p>
        </p:txBody>
      </p:sp>
      <p:sp>
        <p:nvSpPr>
          <p:cNvPr id="276" name="Google Shape;276;p24"/>
          <p:cNvSpPr txBox="1"/>
          <p:nvPr/>
        </p:nvSpPr>
        <p:spPr>
          <a:xfrm>
            <a:off x="6336792" y="5148072"/>
            <a:ext cx="479145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0F2D37"/>
                </a:solidFill>
                <a:latin typeface="Calibri"/>
                <a:ea typeface="Calibri"/>
                <a:cs typeface="Calibri"/>
                <a:sym typeface="Calibri"/>
              </a:rPr>
              <a:t>github.com/the-coder6/diabetes-diet-advisor</a:t>
            </a:r>
            <a:endParaRPr/>
          </a:p>
        </p:txBody>
      </p:sp>
      <p:sp>
        <p:nvSpPr>
          <p:cNvPr id="277" name="Google Shape;277;p24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0F2D3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4"/>
          <p:cNvSpPr txBox="1"/>
          <p:nvPr/>
        </p:nvSpPr>
        <p:spPr>
          <a:xfrm>
            <a:off x="11475720" y="664768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2D37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5"/>
          <p:cNvSpPr txBox="1"/>
          <p:nvPr/>
        </p:nvSpPr>
        <p:spPr>
          <a:xfrm>
            <a:off x="914400" y="1828800"/>
            <a:ext cx="103326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25"/>
          <p:cNvSpPr txBox="1"/>
          <p:nvPr/>
        </p:nvSpPr>
        <p:spPr>
          <a:xfrm>
            <a:off x="1828800" y="3840480"/>
            <a:ext cx="8503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KUNAL SHUKLA  |  25SCS1003003291  |  2CSE10 | B.</a:t>
            </a:r>
            <a:r>
              <a:rPr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Tech CSE AI&amp;ML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